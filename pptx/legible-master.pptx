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 The embedded typefaces. `.fntdata` is a whole TrueType file under another name, which is why
       `pack.py` copies theme/assets/fonts/*.ttf in unchanged: the slides and the figures are set
       from one set of outlines (`fonts`). -->
  <Default Extension="fntdata" ContentType="application/x-fontdata"/>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
  The deck: one master, four slides, and both typefaces travelling inside the file.
  `embedTrueTypeFonts="1"` with `saveSubsetFonts="0"` ships the whole face rather than the glyphs
  these four slides happen to use, which is the difference between a presenter being able to edit
  the deck on a strange machine and being able only to look at it. Inter and JetBrains Mono are both
  SIL OFL, so embedding them is a licence the file carries rather than one it borrows.
  Three faces, not five. PowerPoint's embedding slots are regular / bold / italic / bold-italic per
  typeface, so the theme's Medium and SemiBold have nowhere to go and a bold headline here is
  Inter Bold where the Slidev delivery sets it in SemiBold. That is the one place the two deliveries
  differ by design; `pptx/README.md` records it.
  The `panose` / `pitchFamily` / `charset` triple beside each name is the declared fallback, for the
  renderers — Mac PowerPoint, the web viewer — that strip embeddings. ppt/theme/theme1.xml carries
  the same triple and says what each byte means.
  The slide is 12192000 × 6858000 EMU: 13.333″ × 7.5″, which is 16:9 — the canon's
  `canvas-aspect-ratio`, in the units PowerPoint measures a slide in.
-->
<p:presentation xmlns:a="http://schemas.openxmlformats.org/drawingml/2006/main" xmlns:r="http://schemas.openxmlformats.org/officeDocument/2006/relationships" xmlns:p="http://schemas.openxmlformats.org/presentationml/2006/main" saveSubsetFonts="0" embedTrueTypeFonts="1" strictFirstAndLastChars="0">
  <p:sldMasterIdLst>
    <p:sldMasterId id="2147483648" r:id="rId1"/>
  </p:sldMasterIdLst>
  <p:sldIdLst>
    <p:sldId id="256" r:id="rId2"/>
    <p:sldId id="257" r:id="rId3"/>
    <p:sldId id="258" r:id="rId4"/>
    <p:sldId id="259" r:id="rId5"/>
  </p:sldIdLst>
  <p:sldSz cx="12192000" cy="6858000"/>
  <p:notesSz cx="6858000" cy="9144000"/>
  <p:embeddedFontLst>
    <p:embeddedFont>
      <p:font typeface="Inter" panose="02000503000000020004" pitchFamily="34" charset="0"/>
      <p:regular r:id="rId10"/>
      <p:bold r:id="rId11"/>
    </p:embeddedFont>
    <p:embeddedFont>
      <p:font typeface="JetBrains Mono" panose="02000009000000000000" pitchFamily="49" charset="0"/>
      <p:regular r:id="rId12"/>
    </p:embeddedFont>
  </p:embeddedFontLst>
  <p:defaultTextStyle>
    <a:lvl1pPr marL="0" indent="0" algn="l">
      <a:defRPr sz="1800">
        <a:solidFill>
          <a:schemeClr val="tx1"/>
        </a:solidFill>
        <a:latin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presProps" Target="presProps.xml"/>
  <Relationship Id="rId7" Type="http://schemas.openxmlformats.org/officeDocument/2006/relationships/viewProps" Target="viewProps.xml"/>
  <Relationship Id="rId8" Type="http://schemas.openxmlformats.org/officeDocument/2006/relationships/theme" Target="theme/theme1.xml"/>
  <Relationship Id="rId9" Type="http://schemas.openxmlformats.org/officeDocument/2006/relationships/tableStyles" Target="tableStyles.xml"/>
  <Relationship Id="rId10" Type="http://schemas.openxmlformats.org/officeDocument/2006/relationships/font" Target="fonts/font1.fntdata"/>
  <Relationship Id="rId11" Type="http://schemas.openxmlformats.org/officeDocument/2006/relationships/font" Target="fonts/font2.fntdata"/>
  <Relationship Id="rId12" Type="http://schemas.openxmlformats.org/officeDocument/2006/relationships/font" Target="fonts/font3.fntdata"/>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image" Target="../media/image1.png"/>
</Relationships>

</file>

<file path=ppt/slideLayouts/_rels/slideLayout2.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
  Cover — mirrors the theme's `cover` layout, and is the one layout with no chrome.
  `showMasterSp="0"` drops the master's drawn shapes and the `p:hf` below switches off both of its
  chrome placeholders, so the locator, the accent rule and the page number are all absent. That is
  the whole opt-out: the cover is where orientation begins rather than something the locator has to
  carry, and a presenter gets it by choosing this layout rather than by deleting three shapes.
  The mark is a picture on the layout rather than on the slide, so a second cover made from this
  layout arrives wearing it and a brand swap is one replacement in one place.
  It introduces no new type size — the title is set at the headline size, because a cover is not a
  licence for a display face.
-->
<p:sldLayout xmlns:a="http://schemas.openxmlformats.org/drawingml/2006/main" xmlns:r="http://schemas.openxmlformats.org/officeDocument/2006/relationships" xmlns:p="http://schemas.openxmlformats.org/presentationml/2006/main" type="title" preserve="1" showMasterSp="0">
  <p:cSld name="Cover">
    <p:spTree>
      <p:nvGrpSpPr>
        <p:cNvPr id="1" name=""/>
        <p:cNvGrpSpPr/>
        <p:nvPr/>
      </p:nvGrpSpPr>
      <p:grpSpPr>
        <a:xfrm>
          <a:off x="0" y="0"/>
          <a:ext cx="0" cy="0"/>
          <a:chOff x="0" y="0"/>
          <a:chExt cx="0" cy="0"/>
        </a:xfrm>
      </p:grpSpPr>
      <p:pic>
        <p:nvPicPr>
          <p:cNvPr id="2" name="Mark"/>
          <p:cNvPicPr>
            <a:picLocks noChangeAspect="1"/>
          </p:cNvPicPr>
          <p:nvPr/>
        </p:nvPicPr>
        <p:blipFill>
          <a:blip r:embed="rId2"/>
          <a:stretch>
            <a:fillRect/>
          </a:stretch>
        </p:blipFill>
        <p:spPr>
          <!-- Top-right, on the line the locator pill sits on opposite it. -->
          <a:xfrm>
            <a:off x="9029700" y="342900"/>
            <a:ext cx="2476500" cy="335896"/>
          </a:xfrm>
          <a:prstGeom prst="rect">
            <a:avLst/>
          </a:prstGeom>
        </p:spPr>
      </p:pic>
      <p:sp>
        <p:nvSpPr>
          <p:cNvPr id="3" name="Title"/>
          <p:cNvSpPr>
            <a:spLocks noGrp="1"/>
          </p:cNvSpPr>
          <p:nvPr>
            <p:ph type="ctrTitle"/>
          </p:nvPr>
        </p:nvSpPr>
        <p:spPr>
          <a:xfrm>
            <a:off x="685800" y="2324100"/>
            <a:ext cx="10820400" cy="457200"/>
          </a:xfrm>
          <a:prstGeom prst="rect">
            <a:avLst/>
          </a:prstGeom>
        </p:spPr>
        <p:txBody>
          <a:bodyPr lIns="0" tIns="0" rIns="0" bIns="0" anchor="t">
            <a:noAutofit/>
          </a:bodyPr>
          <a:lstStyle/>
          <a:p>
            <a:r>
              <a:rPr lang="en-GB"/>
              <a:t>The deck</a:t>
            </a:r>
          </a:p>
        </p:txBody>
      </p:sp>
      <p:sp>
        <p:nvSpPr>
          <p:cNvPr id="4" name="Subtitle"/>
          <p:cNvSpPr>
            <a:spLocks noGrp="1"/>
          </p:cNvSpPr>
          <p:nvPr>
            <p:ph type="subTitle" idx="1"/>
          </p:nvPr>
        </p:nvSpPr>
        <p:spPr>
          <a:xfrm>
            <a:off x="685800" y="2895600"/>
            <a:ext cx="10820400" cy="323850"/>
          </a:xfrm>
          <a:prstGeom prst="rect">
            <a:avLst/>
          </a:prstGeom>
        </p:spPr>
        <p:txBody>
          <a:bodyPr lIns="0" tIns="0" rIns="0" bIns="0" anchor="t">
            <a:noAutofit/>
          </a:bodyPr>
          <a:lstStyle>
            <a:lvl1pPr marL="0" indent="0" algn="l">
              <a:lnSpc>
                <a:spcPct val="145000"/>
              </a:lnSpc>
              <a:buNone/>
              <a:defRPr sz="1800" b="0">
                <a:solidFill>
                  <a:schemeClr val="tx2"/>
                </a:solidFill>
                <a:latin typeface="+mn-lt"/>
              </a:defRPr>
            </a:lvl1pPr>
          </a:lstStyle>
          <a:p>
            <a:r>
              <a:rPr lang="en-GB"/>
              <a:t>What it is for, in one sentence</a:t>
            </a:r>
          </a:p>
        </p:txBody>
      </p:sp>
      <!-- The cover's own accent segment. Not the master's rule — that is chrome, and this slide
           carries none; this is the same 88 px mark standing on its own. -->
      <p:sp>
        <p:nvSpPr>
          <p:cNvPr id="5" name="Rule accent"/>
          <p:cNvSpPr/>
          <p:nvPr/>
        </p:nvSpPr>
        <p:spPr>
          <a:xfrm>
            <a:off x="685800" y="3524250"/>
            <a:ext cx="838200" cy="28575"/>
          </a:xfrm>
          <a:prstGeom prst="rect">
            <a:avLst/>
          </a:prstGeom>
          <a:solidFill>
            <a:schemeClr val="accent2"/>
          </a:solidFill>
          <a:ln>
            <a:noFill/>
          </a:ln>
        </p:spPr>
        <p:txBody>
          <a:bodyPr/>
          <a:lstStyle/>
          <a:p>
            <a:endParaRPr lang="en-GB"/>
          </a:p>
        </p:txBody>
      </p:sp>
      <!-- Who is speaking, where, and when. Data rather than prose, which is why it is its own
           zone instead of a second paragraph of the subtitle. -->
      <p:sp>
        <p:nvSpPr>
          <p:cNvPr id="6" name="Speaker and venue"/>
          <p:cNvSpPr>
            <a:spLocks noGrp="1"/>
          </p:cNvSpPr>
          <p:nvPr>
            <p:ph type="body" idx="2"/>
          </p:nvPr>
        </p:nvSpPr>
        <p:spPr>
          <a:xfrm>
            <a:off x="685800" y="3857625"/>
            <a:ext cx="10820400" cy="695325"/>
          </a:xfrm>
          <a:prstGeom prst="rect">
            <a:avLst/>
          </a:prstGeom>
        </p:spPr>
        <p:txBody>
          <a:bodyPr lIns="0" tIns="0" rIns="0" bIns="0" anchor="t">
            <a:noAutofit/>
          </a:bodyPr>
          <a:lstStyle>
            <a:lvl1pPr marL="0" indent="0" algn="l">
              <a:buNone/>
              <a:defRPr sz="1800">
                <a:solidFill>
                  <a:schemeClr val="tx2"/>
                </a:solidFill>
                <a:latin typeface="+mn-lt"/>
              </a:defRPr>
            </a:lvl1pPr>
          </a:lstStyle>
          <a:p>
            <a:r>
              <a:rPr lang="en-GB"/>
              <a:t>Speaker</a:t>
            </a:r>
          </a:p>
          <a:p>
            <a:r>
              <a:rPr lang="en-GB"/>
              <a:t>Venue</a:t>
            </a:r>
          </a:p>
        </p:txBody>
      </p:sp>
    </p:spTree>
  </p:cSld>
  <p:clrMapOvr>
    <a:masterClrMapping/>
  </p:clrMapOvr>
  <p:hf sldNum="0" hdr="0" ftr="0" dt="0"/>
</p:sldLayout>
</file>

<file path=ppt/slideLayouts/slideLayout2.xml><?xml version="1.0" encoding="utf-8"?>
<!--
  Assertion-Evidence — mirrors the theme's `assertion-evidence` layout, and is the default.
  There is nothing to configure, which is the design: the headline is the claim, everything under
  the rule is the one piece of evidence that proves it, and a slide's only decision is what it is
  trying to land (`one-message`).
  Every placeholder here is declared with an empty `p:spPr` on purpose. A layout placeholder with no
  geometry of its own inherits the master's, so the five zones are written once — in
  slideMaster1.xml — and a zone that moved there moves on all three content layouts rather than on
  whichever ones someone remembered.
-->
<p:sldLayout xmlns:a="http://schemas.openxmlformats.org/drawingml/2006/main" xmlns:r="http://schemas.openxmlformats.org/officeDocument/2006/relationships" xmlns:p="http://schemas.openxmlformats.org/presentationml/2006/main" type="obj" preserve="1">
  <p:cSld name="Assertion-Evidence">
    <p:spTree>
      <p:nvGrpSpPr>
        <p:cNvPr id="1" name=""/>
        <p:cNvGrpSpPr/>
        <p:nvPr/>
      </p:nvGrpSpPr>
      <p:grpSpPr>
        <a:xfrm>
          <a:off x="0" y="0"/>
          <a:ext cx="0" cy="0"/>
          <a:chOff x="0" y="0"/>
          <a:chExt cx="0" cy="0"/>
        </a:xfrm>
      </p:grpSpPr>
      <p:sp>
        <p:nvSpPr>
          <p:cNvPr id="2" name="Locator"/>
          <p:cNvSpPr>
            <a:spLocks noGrp="1"/>
          </p:cNvSpPr>
          <p:nvPr>
            <p:ph type="ftr" sz="quarter" idx="10"/>
          </p:nvPr>
        </p:nvSpPr>
        <p:spPr/>
        <p:txBody>
          <a:bodyPr/>
          <a:lstStyle/>
          <a:p>
            <a:endParaRPr lang="en-GB"/>
          </a:p>
        </p:txBody>
      </p:sp>
      <p:sp>
        <p:nvSpPr>
          <p:cNvPr id="3" name="Assertion headline"/>
          <p:cNvSpPr>
            <a:spLocks noGrp="1"/>
          </p:cNvSpPr>
          <p:nvPr>
            <p:ph type="title"/>
          </p:nvPr>
        </p:nvSpPr>
        <p:spPr/>
        <p:txBody>
          <a:bodyPr/>
          <a:lstStyle/>
          <a:p>
            <a:r>
              <a:rPr lang="en-GB"/>
              <a:t>Write the claim this slide proves, as a sentence</a:t>
            </a:r>
          </a:p>
        </p:txBody>
      </p:sp>
      <p:sp>
        <p:nvSpPr>
          <p:cNvPr id="4" name="Evidence"/>
          <p:cNvSpPr>
            <a:spLocks noGrp="1"/>
          </p:cNvSpPr>
          <p:nvPr>
            <p:ph type="body" idx="1"/>
          </p:nvPr>
        </p:nvSpPr>
        <p:spPr/>
        <p:txBody>
          <a:bodyPr/>
          <a:lstStyle/>
          <a:p>
            <a:r>
              <a:rPr lang="en-GB"/>
              <a:t>Prove it, visually</a:t>
            </a:r>
          </a:p>
        </p:txBody>
      </p:sp>
      <p:sp>
        <p:nvSpPr>
          <p:cNvPr id="5" name="Page number"/>
          <p:cNvSpPr>
            <a:spLocks noGrp="1"/>
          </p:cNvSpPr>
          <p:nvPr>
            <p:ph type="sldNum" sz="quarter" idx="12"/>
          </p:nvPr>
        </p:nvSpPr>
        <p:spPr/>
        <p:txBody>
          <a:bodyPr/>
          <a:lstStyle/>
          <a:p>
            <a:fld id="{4B2C0E1A-6D3F-4A97-9F1B-2E5C7A8D0B31}" type="slidenum">
              <a:rPr lang="en-GB"/>
              <a:t>2</a:t>
            </a:fld>
            <a:endParaRPr lang="en-GB"/>
          </a:p>
        </p:txBody>
      </p:sp>
    </p:spTree>
  </p:cSld>
  <p:clrMapOvr>
    <a:masterClrMapping/>
  </p:clrMapOvr>
</p:sldLayout>
</file>

<file path=ppt/slideLayouts/slideLayout3.xml><?xml version="1.0" encoding="utf-8"?>
<!--
  Two-Col Evidence — mirrors the theme's `two-col-evidence` layout.
  One claim, evidence in two panes: a figure beside what it shows, a label beside a claim, a before
  beside an after. Still one message — the two panes are one argument, and a slide whose panes
  answer two questions is two slides (`one-message`).
  The evidence zone is the only thing this layout re-cuts. The headline, the locator, the rule and
  the page number all inherit the master untouched, so the two panes are the difference between this
  layout and the default and there is no second copy of the skeleton to keep in step.
  The panes are 544 px each with a 48 px gutter, which is the 1136 px content width split on the
  grid rather than eyeballed (`layout-discipline`).
-->
<p:sldLayout xmlns:a="http://schemas.openxmlformats.org/drawingml/2006/main" xmlns:r="http://schemas.openxmlformats.org/officeDocument/2006/relationships" xmlns:p="http://schemas.openxmlformats.org/presentationml/2006/main" type="twoObj" preserve="1">
  <p:cSld name="Two-Col Evidence">
    <p:spTree>
      <p:nvGrpSpPr>
        <p:cNvPr id="1" name=""/>
        <p:cNvGrpSpPr/>
        <p:nvPr/>
      </p:nvGrpSpPr>
      <p:grpSpPr>
        <a:xfrm>
          <a:off x="0" y="0"/>
          <a:ext cx="0" cy="0"/>
          <a:chOff x="0" y="0"/>
          <a:chExt cx="0" cy="0"/>
        </a:xfrm>
      </p:grpSpPr>
      <p:sp>
        <p:nvSpPr>
          <p:cNvPr id="2" name="Locator"/>
          <p:cNvSpPr>
            <a:spLocks noGrp="1"/>
          </p:cNvSpPr>
          <p:nvPr>
            <p:ph type="ftr" sz="quarter" idx="10"/>
          </p:nvPr>
        </p:nvSpPr>
        <p:spPr/>
        <p:txBody>
          <a:bodyPr/>
          <a:lstStyle/>
          <a:p>
            <a:endParaRPr lang="en-GB"/>
          </a:p>
        </p:txBody>
      </p:sp>
      <p:sp>
        <p:nvSpPr>
          <p:cNvPr id="3" name="Assertion headline"/>
          <p:cNvSpPr>
            <a:spLocks noGrp="1"/>
          </p:cNvSpPr>
          <p:nvPr>
            <p:ph type="title"/>
          </p:nvPr>
        </p:nvSpPr>
        <p:spPr/>
        <p:txBody>
          <a:bodyPr/>
          <a:lstStyle/>
          <a:p>
            <a:r>
              <a:rPr lang="en-GB"/>
              <a:t>Write the claim this slide proves, as a sentence</a:t>
            </a:r>
          </a:p>
        </p:txBody>
      </p:sp>
      <p:sp>
        <p:nvSpPr>
          <p:cNvPr id="4" name="Evidence, left"/>
          <p:cNvSpPr>
            <a:spLocks noGrp="1"/>
          </p:cNvSpPr>
          <p:nvPr>
            <p:ph type="body" idx="1"/>
          </p:nvPr>
        </p:nvSpPr>
        <p:spPr>
          <a:xfrm>
            <a:off x="685800" y="2111883"/>
            <a:ext cx="5182800" cy="4136517"/>
          </a:xfrm>
          <a:prstGeom prst="rect">
            <a:avLst/>
          </a:prstGeom>
        </p:spPr>
        <p:txBody>
          <a:bodyPr/>
          <a:lstStyle/>
          <a:p>
            <a:r>
              <a:rPr lang="en-GB"/>
              <a:t>One half of the argument</a:t>
            </a:r>
          </a:p>
        </p:txBody>
      </p:sp>
      <p:sp>
        <p:nvSpPr>
          <p:cNvPr id="5" name="Evidence, right"/>
          <p:cNvSpPr>
            <a:spLocks noGrp="1"/>
          </p:cNvSpPr>
          <p:nvPr>
            <p:ph type="body" idx="2"/>
          </p:nvPr>
        </p:nvSpPr>
        <p:spPr>
          <a:xfrm>
            <a:off x="6324600" y="2111883"/>
            <a:ext cx="5182800" cy="4136517"/>
          </a:xfrm>
          <a:prstGeom prst="rect">
            <a:avLst/>
          </a:prstGeom>
        </p:spPr>
        <p:txBody>
          <a:bodyPr lIns="0" tIns="0" rIns="0" bIns="0" anchor="t">
            <a:noAutofit/>
          </a:bodyPr>
          <a:lstStyle/>
          <a:p>
            <a:r>
              <a:rPr lang="en-GB"/>
              <a:t>The other half of it</a:t>
            </a:r>
          </a:p>
        </p:txBody>
      </p:sp>
      <p:sp>
        <p:nvSpPr>
          <p:cNvPr id="6" name="Page number"/>
          <p:cNvSpPr>
            <a:spLocks noGrp="1"/>
          </p:cNvSpPr>
          <p:nvPr>
            <p:ph type="sldNum" sz="quarter" idx="12"/>
          </p:nvPr>
        </p:nvSpPr>
        <p:spPr/>
        <p:txBody>
          <a:bodyPr/>
          <a:lstStyle/>
          <a:p>
            <a:fld id="{4B2C0E1A-6D3F-4A97-9F1B-2E5C7A8D0B31}" type="slidenum">
              <a:rPr lang="en-GB"/>
              <a:t>2</a:t>
            </a:fld>
            <a:endParaRPr lang="en-GB"/>
          </a:p>
        </p:txBody>
      </p:sp>
    </p:spTree>
  </p:cSld>
  <p:clrMapOvr>
    <a:masterClrMapping/>
  </p:clrMapOvr>
</p:sldLayout>
</file>

<file path=ppt/slideLayouts/slideLayout4.xml><?xml version="1.0" encoding="utf-8"?>
<!--
  References — mirrors the theme's `references` layout.
  A slide about sources, not a divider: it proves something — where the claims came from — which is
  why the method can ship it while refusing a section slide (`no-section-dividers`).
  The one thing it adds to the skeleton is the numbering. Entries are an auto-numbered list so a
  `1` beside a claim earlier in the deck lines up with an entry here without anybody renumbering by
  hand, and the numerals take `neutral` rather than the softest neutral because numerals are text
  (`decorative-neutral-never-text`).
-->
<p:sldLayout xmlns:a="http://schemas.openxmlformats.org/drawingml/2006/main" xmlns:r="http://schemas.openxmlformats.org/officeDocument/2006/relationships" xmlns:p="http://schemas.openxmlformats.org/presentationml/2006/main" type="obj" preserve="1">
  <p:cSld name="References">
    <p:spTree>
      <p:nvGrpSpPr>
        <p:cNvPr id="1" name=""/>
        <p:cNvGrpSpPr/>
        <p:nvPr/>
      </p:nvGrpSpPr>
      <p:grpSpPr>
        <a:xfrm>
          <a:off x="0" y="0"/>
          <a:ext cx="0" cy="0"/>
          <a:chOff x="0" y="0"/>
          <a:chExt cx="0" cy="0"/>
        </a:xfrm>
      </p:grpSpPr>
      <p:sp>
        <p:nvSpPr>
          <p:cNvPr id="2" name="Locator"/>
          <p:cNvSpPr>
            <a:spLocks noGrp="1"/>
          </p:cNvSpPr>
          <p:nvPr>
            <p:ph type="ftr" sz="quarter" idx="10"/>
          </p:nvPr>
        </p:nvSpPr>
        <p:spPr/>
        <p:txBody>
          <a:bodyPr/>
          <a:lstStyle/>
          <a:p>
            <a:endParaRPr lang="en-GB"/>
          </a:p>
        </p:txBody>
      </p:sp>
      <p:sp>
        <p:nvSpPr>
          <p:cNvPr id="3" name="Assertion headline"/>
          <p:cNvSpPr>
            <a:spLocks noGrp="1"/>
          </p:cNvSpPr>
          <p:nvPr>
            <p:ph type="title"/>
          </p:nvPr>
        </p:nvSpPr>
        <p:spPr/>
        <p:txBody>
          <a:bodyPr/>
          <a:lstStyle/>
          <a:p>
            <a:r>
              <a:rPr lang="en-GB"/>
              <a:t>Write the claim this slide proves, as a sentence</a:t>
            </a:r>
          </a:p>
        </p:txBody>
      </p:sp>
      <p:sp>
        <p:nvSpPr>
          <p:cNvPr id="4" name="Sources"/>
          <p:cNvSpPr>
            <a:spLocks noGrp="1"/>
          </p:cNvSpPr>
          <p:nvPr>
            <p:ph type="body" idx="1"/>
          </p:nvPr>
        </p:nvSpPr>
        <p:spPr/>
        <p:txBody>
          <a:bodyPr/>
          <a:lstStyle>
            <a:lvl1pPr marL="525780" indent="-525780" algn="l">
              <a:lnSpc>
                <a:spcPct val="140000"/>
              </a:lnSpc>
              <a:spcBef>
                <a:spcPts val="700"/>
              </a:spcBef>
              <!-- Without a stop of its own the tab after the numeral runs on to the next default
                   one, and an entry's first line starts to the right of the lines it wraps onto. -->
              <a:tabLst>
                <a:tab pos="525780" algn="l"/>
              </a:tabLst>
              <a:buClr>
                <a:schemeClr val="tx2"/>
              </a:buClr>
              <a:buFont typeface="+mn-lt"/>
              <a:buAutoNum type="arabicPeriod"/>
              <a:defRPr sz="1800">
                <a:solidFill>
                  <a:schemeClr val="tx1"/>
                </a:solidFill>
                <a:latin typeface="+mn-lt"/>
              </a:defRPr>
            </a:lvl1pPr>
          </a:lstStyle>
          <a:p>
            <a:r>
              <a:rPr lang="en-GB"/>
              <a:t>Author, year, title</a:t>
            </a:r>
          </a:p>
        </p:txBody>
      </p:sp>
      <p:sp>
        <p:nvSpPr>
          <p:cNvPr id="5" name="Page number"/>
          <p:cNvSpPr>
            <a:spLocks noGrp="1"/>
          </p:cNvSpPr>
          <p:nvPr>
            <p:ph type="sldNum" sz="quarter" idx="12"/>
          </p:nvPr>
        </p:nvSpPr>
        <p:spPr/>
        <p:txBody>
          <a:bodyPr/>
          <a:lstStyle/>
          <a:p>
            <a:fld id="{4B2C0E1A-6D3F-4A97-9F1B-2E5C7A8D0B31}" type="slidenum">
              <a:rPr lang="en-GB"/>
              <a:t>2</a:t>
            </a:fld>
            <a:endParaRPr lang="en-GB"/>
          </a:p>
        </p:txBody>
      </p:sp>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theme" Target="../theme/theme1.xml"/>
</Relationships>

</file>

<file path=ppt/slideMasters/slideMaster1.xml><?xml version="1.0" encoding="utf-8"?>
<!--
  The Slide Master: the five zones of `ae-skeleton`, once, for every content layout under it.
  The shapes below are written in the order the rule states them —
      locator  →  assertion headline  →  accent rule  →  evidence  →  page number
  — and three of them are placeholders rather than drawings, because three of them are a presenter's
  to edit. The locator is PowerPoint's `ftr` placeholder and the page number is its `sldNum` one,
  which is what makes them inherited by every content layout, editable per slide, and switchable
  from the Header & Footer dialog a PowerPoint user already knows. The accent rule is not a
  placeholder: it is a rule, and nothing about it is a presenter's to type into.
  The cover opts out of all of it — see slideLayout1.xml. That is the native equivalent of the
  theme's `global-*` opt-out: chrome lives here, and a layout declines it rather than each layout
  asking for it.
  Every geometry number is a canvas px from `theme/styles/layout.css`, converted once. The canon's
  canvas and a 16:9 PowerPoint slide are the same shape, and one canvas px comes to a whole number
  of EMU, so the zones land where the Slidev delivery draws them rather than near it.
  No colour is written here but `hairline`. Everything else is a theme slot, so recolouring the
  proof is ppt/theme/theme1.xml and nothing else — `docs/pptx-static-proof.md` §4 records why the
  hairline is the exception.
-->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 1. Locator. The orientation device `no-section-dividers` relies on: it is on every
           content slide, so no slide has to be spent announcing where the talk has got to. A
           presenter retypes it when the section changes and leaves it alone otherwise. -->
      <p:sp>
        <p:nvSpPr>
          <p:cNvPr id="2" name="Locator"/>
          <p:cNvSpPr>
            <a:spLocks noGrp="1"/>
          </p:cNvSpPr>
          <p:nvPr>
            <p:ph type="ftr" sz="quarter" idx="10"/>
          </p:nvPr>
        </p:nvSpPr>
        <p:spPr>
          <a:xfrm>
            <a:off x="685800" y="342900"/>
            <a:ext cx="1600200" cy="266700"/>
          </a:xfrm>
          <a:prstGeom prst="roundRect">
            <a:avLst>
              <a:gd name="adj" fmla="val 50000"/>
            </a:avLst>
          </a:prstGeom>
          <a:solidFill>
            <a:schemeClr val="accent1"/>
          </a:solidFill>
          <a:ln>
            <a:noFill/>
          </a:ln>
        </p:spPr>
        <p:txBody>
          <!-- Hugs its text. `wrap="none"` with autofit is what makes PowerPoint refit the pill to
               a retyped section name rather than leave a brand-coloured slab behind a short one;
               the extent each slide carries is that fit, written down, so a renderer that does not
               refit still draws the pill at the size its own text needs. -->
          <a:bodyPr wrap="none" lIns="133350" tIns="0" rIns="133350" bIns="0" anchor="ctr">
            <a:spAutoFit/>
          </a:bodyPr>
          <a:lstStyle>
            <a:lvl1pPr algn="l">
              <a:defRPr sz="1200" b="0" spc="48">
                <a:solidFill>
                  <a:schemeClr val="bg1"/>
                </a:solidFill>
                <a:latin typeface="JetBrains Mono" panose="02000009000000000000" pitchFamily="49" charset="0"/>
              </a:defRPr>
            </a:lvl1pPr>
          </a:lstStyle>
          <a:p>
            <a:r>
              <a:rPr lang="en-GB"/>
              <a:t>The section</a:t>
            </a:r>
          </a:p>
        </p:txBody>
      </p:sp>
      <!-- 2. Assertion headline. Two rendered lines is the ceiling `headline-shape` sets, and the
           zone is that ceiling in height: a third line has nowhere to go and would collide with
           the accent rule below it. -->
      <p:sp>
        <p:nvSpPr>
          <p:cNvPr id="3" name="Assertion headline"/>
          <p:cNvSpPr>
            <a:spLocks noGrp="1"/>
          </p:cNvSpPr>
          <p:nvPr>
            <p:ph type="title"/>
          </p:nvPr>
        </p:nvSpPr>
        <p:spPr>
          <a:xfrm>
            <a:off x="685800" y="800100"/>
            <a:ext cx="10820400" cy="902208"/>
          </a:xfrm>
          <a:prstGeom prst="rect">
            <a:avLst/>
          </a:prstGeom>
        </p:spPr>
        <p:txBody>
          <a:bodyPr lIns="0" tIns="0" rIns="0" bIns="0" anchor="t">
            <a:noAutofit/>
          </a:bodyPr>
          <a:lstStyle/>
          <a:p>
            <a:r>
              <a:rPr lang="en-GB"/>
              <a:t>Write the claim this slide proves, as a sentence</a:t>
            </a:r>
          </a:p>
        </p:txBody>
      </p:sp>
      <!-- 3. Accent rule. Two rectangles rather than one bordered shape, because the accent segment
           that starts it is the attention mark (`accent-is-attention`) and the rest of the line is
           a hairline. `hairline` is a fixed fill: it is the one palette role with no theme slot to
           live in, which `docs/pptx-static-proof.md` §4 records. -->
      <p:sp>
        <p:nvSpPr>
          <p:cNvPr id="4" name="Rule"/>
          <p:cNvSpPr/>
          <p:nvPr/>
        </p:nvSpPr>
        <p:spPr>
          <a:xfrm>
            <a:off x="685800" y="1892808"/>
            <a:ext cx="10820400" cy="28575"/>
          </a:xfrm>
          <a:prstGeom prst="rect">
            <a:avLst/>
          </a:prstGeom>
          <a:solidFill>
            <a:srgbClr val="DDE5EE"/>
          </a:solidFill>
          <a:ln>
            <a:noFill/>
          </a:ln>
        </p:spPr>
        <p:txBody>
          <a:bodyPr/>
          <a:lstStyle/>
          <a:p>
            <a:endParaRPr lang="en-GB"/>
          </a:p>
        </p:txBody>
      </p:sp>
      <p:sp>
        <p:nvSpPr>
          <p:cNvPr id="5" name="Rule accent"/>
          <p:cNvSpPr/>
          <p:nvPr/>
        </p:nvSpPr>
        <p:spPr>
          <a:xfrm>
            <a:off x="685800" y="1892808"/>
            <a:ext cx="838200" cy="28575"/>
          </a:xfrm>
          <a:prstGeom prst="rect">
            <a:avLst/>
          </a:prstGeom>
          <a:solidFill>
            <a:schemeClr val="accent2"/>
          </a:solidFill>
          <a:ln>
            <a:noFill/>
          </a:ln>
        </p:spPr>
        <p:txBody>
          <a:bodyPr/>
          <a:lstStyle/>
          <a:p>
            <a:endParaRPr lang="en-GB"/>
          </a:p>
        </p:txBody>
      </p:sp>
      <!-- 4. Evidence. What proves the headline, and the only zone a layout re-cuts: the two-column
           layout splits this rectangle, and nothing else about the skeleton moves. -->
      <p:sp>
        <p:nvSpPr>
          <p:cNvPr id="6" name="Evidence"/>
          <p:cNvSpPr>
            <a:spLocks noGrp="1"/>
          </p:cNvSpPr>
          <p:nvPr>
            <p:ph type="body" idx="1"/>
          </p:nvPr>
        </p:nvSpPr>
        <p:spPr>
          <a:xfrm>
            <a:off x="685800" y="2111883"/>
            <a:ext cx="10820400" cy="4136517"/>
          </a:xfrm>
          <a:prstGeom prst="rect">
            <a:avLst/>
          </a:prstGeom>
        </p:spPr>
        <p:txBody>
          <a:bodyPr lIns="0" tIns="0" rIns="0" bIns="0" anchor="t">
            <a:noAutofit/>
          </a:bodyPr>
          <a:lstStyle/>
          <a:p>
            <a:r>
              <a:rPr lang="en-GB"/>
              <a:t>Prove it, visually</a:t>
            </a:r>
          </a:p>
        </p:txBody>
      </p:sp>
      <!-- 5. Page number. PowerPoint's own field, so it counts the deck rather than being typed. -->
      <p:sp>
        <p:nvSpPr>
          <p:cNvPr id="7" name="Page number"/>
          <p:cNvSpPr>
            <a:spLocks noGrp="1"/>
          </p:cNvSpPr>
          <p:nvPr>
            <p:ph type="sldNum" sz="quarter" idx="12"/>
          </p:nvPr>
        </p:nvSpPr>
        <p:spPr>
          <a:xfrm>
            <a:off x="685800" y="6248400"/>
            <a:ext cx="10820400" cy="266700"/>
          </a:xfrm>
          <a:prstGeom prst="rect">
            <a:avLst/>
          </a:prstGeom>
        </p:spPr>
        <p:txBody>
          <a:bodyPr lIns="0" tIns="0" rIns="0" bIns="0" anchor="b"/>
          <a:lstStyle>
            <a:lvl1pPr algn="r">
              <a:defRPr sz="1200">
                <a:solidFill>
                  <a:schemeClr val="tx2"/>
                </a:solidFill>
              </a:defRPr>
            </a:lvl1pPr>
          </a:lstStyle>
          <a:p>
            <a:fld id="{4B2C0E1A-6D3F-4A97-9F1B-2E5C7A8D0B31}" type="slidenum">
              <a:rPr lang="en-GB"/>
              <a:t>2</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 No transition and no timing: `motion-purpose` earns motion two ways, and neither of them is
       a slide change. The deck's whole animation budget is a speaker-paced reveal, which is a
       per-slide decision rather than a default the master hands out. -->
  <p:hf hdr="0" dt="0"/>
  <!--
    The type scale, in points, and the only place the proof states a size.
    `type-scale` fixes the sizes on the canon's logical canvas; a PowerPoint slide is a smaller share
    of the same shape, so a point size here is the canvas px scaled by the ratio of the two heights,
    taken up to the next even point. Up rather than to the nearest, because up is the direction that
    cannot land under the ratio whatever the canon's sizes are next year.
    The numbers below are `headline-px` and `body-px`; the two dense exceptions are set where they
    are taken. The canon owns all four, `docs/pptx-static-proof.md` §5 records the conversion, and
    python/tests/test_pptx.py re-derives every one of them from `docs/method.md` — so this file is
    the only copy, and it is a checked one.
  -->
  <p:txStyles>
    <p:titleStyle>
      <a:lvl1pPr algn="l">
        <a:lnSpc>
          <a:spcPct val="128000"/>
        </a:lnSpc>
        <a:defRPr sz="2800" b="1" spc="-28">
          <a:solidFill>
            <a:schemeClr val="accent1"/>
          </a:solidFill>
          <a:latin typeface="+mj-lt"/>
        </a:defRPr>
      </a:lvl1pPr>
    </p:titleStyle>
    <p:bodyStyle>
      <!-- No per-level scale. Assertion-Evidence has one headline size, one body size and the
           locator; a heading scale is how a deck drifts below the floor one slide at a time. The
           nine levels exist because PowerPoint's outliner offers them, and they are all one size. -->
      <a:lvl1pPr marL="0" indent="0" algn="l">
        <a:lnSpc>
          <a:spcPct val="150000"/>
        </a:lnSpc>
        <a:spcBef>
          <a:spcPts val="0"/>
        </a:spcBef>
        <a:buNone/>
        <a:defRPr sz="1800">
          <a:solidFill>
            <a:schemeClr val="tx1"/>
          </a:solidFill>
          <a:latin typeface="+mn-lt"/>
        </a:defRPr>
      </a:lvl1pPr>
      <a:lvl2pPr marL="342900" indent="-342900" algn="l">
        <a:lnSpc>
          <a:spcPct val="145000"/>
        </a:lnSpc>
        <a:spcBef>
          <a:spcPts val="600"/>
        </a:spcBef>
        <a:buClr>
          <a:schemeClr val="tx2"/>
        </a:buClr>
        <a:buChar char="▪"/>
        <a:defRPr sz="1800">
          <a:solidFill>
            <a:schemeClr val="tx1"/>
          </a:solidFill>
          <a:latin typeface="+mn-lt"/>
        </a:defRPr>
      </a:lvl2pPr>
    </p:bodyStyle>
    <p:otherStyle>
      <a:lvl1pPr marL="0" indent="0" algn="l">
        <a:defRPr sz="1800">
          <a:solidFill>
            <a:schemeClr val="tx1"/>
          </a:solidFill>
          <a:latin typeface="+mn-lt"/>
        </a:defRPr>
      </a:lvl1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4.xml"/>
</Relationships>

</file>

<file path=ppt/slides/slide1.xml><?xml version="1.0" encoding="utf-8"?>
<!--
  Beat 1 of the flagship, on the `Cover` layout.
  Real content rather than lorem ipsum, and the same content the Slidev delivery opens with, because
  the proof's whole claim is "the same deck, the same method, in PowerPoint" — a different-coloured
  cousin with placeholder words would prove nothing.
  Nothing is positioned here. Title, subtitle and the speaker block all inherit the layout's
  geometry, and the mark is drawn by the layout: a cover made from this master arrives assembled.
-->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p:txBody>
          <a:bodyPr/>
          <a:lstStyle/>
          <a:p>
            <a:r>
              <a:rPr lang="en-GB"/>
              <a:t>legible-slides</a:t>
            </a:r>
          </a:p>
        </p:txBody>
      </p:sp>
      <p:sp>
        <p:nvSpPr>
          <p:cNvPr id="3" name="Subtitle"/>
          <p:cNvSpPr>
            <a:spLocks noGrp="1"/>
          </p:cNvSpPr>
          <p:nvPr>
            <p:ph type="subTitle" idx="1"/>
          </p:nvPr>
        </p:nvSpPr>
        <p:spPr/>
        <p:txBody>
          <a:bodyPr/>
          <a:lstStyle/>
          <a:p>
            <a:r>
              <a:rPr lang="en-GB"/>
              <a:t>Readable from the back row, and for every pair of eyes.</a:t>
            </a:r>
          </a:p>
        </p:txBody>
      </p:sp>
      <p:sp>
        <p:nvSpPr>
          <p:cNvPr id="4" name="Speaker and venue"/>
          <p:cNvSpPr>
            <a:spLocks noGrp="1"/>
          </p:cNvSpPr>
          <p:nvPr>
            <p:ph type="body" idx="2"/>
          </p:nvPr>
        </p:nvSpPr>
        <p:spPr/>
        <p:txBody>
          <a:bodyPr/>
          <a:lstStyle/>
          <a:p>
            <a:r>
              <a:rPr lang="en-GB"/>
              <a:t>Yongbo Yu</a:t>
            </a:r>
          </a:p>
          <a:p>
            <a:r>
              <a:rPr lang="en-GB"/>
              <a:t>KU Leuven · Research Centre for Information Systems Engineering</a:t>
            </a:r>
          </a:p>
        </p:txBody>
      </p:sp>
    </p:spTree>
  </p:cSld>
  <p:clrMapOvr>
    <a:masterClrMapping/>
  </p:clrMapOvr>
</p:sld>
</file>

<file path=ppt/slides/slide2.xml><?xml version="1.0" encoding="utf-8"?>
<!--
  Beat 10 of the flagship, on the `Assertion-Evidence` layout — and the slide that carries the
  proof's load-bearing claim about figures.
  The chart is `deck/public/redundant-deuteranomaly.png`, the same file the Slidev deck shows: drawn
  by `legible.figures.multi_series` from `themes/kuleuven.json`, simulated with the validator's own
  Machado 2009 code, and imported here as a picture. It is not redrawn as a native PowerPoint chart,
  and that is the decision the whole colour mapping rests on — `series-1 … series-3` never need a
  theme slot because they never leave the image. Regenerate the figure, repack, and this slide is
  current; there is no second copy of the data to update.
  Every line in it carries a dash and a marker of its own, which is `never-sole-channel` doing the
  work grayscale relies on.
  The picture takes the evidence placeholder (`p:ph idx="1"`), so it is the evidence rather than
  something laid on top of it, and the caption spans the pane under it the way the theme's `Figure`
  component sets it: dense, because a caption labels the evidence and is not the evidence.
-->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ocator"/>
          <p:cNvSpPr>
            <a:spLocks noGrp="1"/>
          </p:cNvSpPr>
          <p:nvPr>
            <p:ph type="ftr" sz="quarter" idx="10"/>
          </p:nvPr>
        </p:nvSpPr>
        <p:spPr>
          <a:xfrm>
            <a:off x="685800" y="342900"/>
            <a:ext cx="1143000" cy="266700"/>
          </a:xfrm>
        </p:spPr>
        <p:txBody>
          <a:bodyPr/>
          <a:lstStyle/>
          <a:p>
            <a:r>
              <a:rPr lang="en-GB"/>
              <a:t>The floor</a:t>
            </a:r>
          </a:p>
        </p:txBody>
      </p:sp>
      <p:sp>
        <p:nvSpPr>
          <p:cNvPr id="3" name="Assertion headline"/>
          <p:cNvSpPr>
            <a:spLocks noGrp="1"/>
          </p:cNvSpPr>
          <p:nvPr>
            <p:ph type="title"/>
          </p:nvPr>
        </p:nvSpPr>
        <p:spPr/>
        <p:txBody>
          <a:bodyPr/>
          <a:lstStyle/>
          <a:p>
            <a:r>
              <a:rPr lang="en-GB"/>
              <a:t>If a colour dies under colour-blindness or in grayscale, it is not in the palette.</a:t>
            </a:r>
          </a:p>
        </p:txBody>
      </p:sp>
      <p:pic>
        <p:nvPicPr>
          <p:cNvPr id="4" name="Separation under deuteranomaly" descr="Ten pairs of the theme's data colours, each measured as ΔE under normal vision and the three dichromacies, plotted against the floor. Every line carries its own dash pattern and marker."/>
          <p:cNvPicPr>
            <a:picLocks noChangeAspect="1"/>
          </p:cNvPicPr>
          <p:nvPr>
            <p:ph idx="1"/>
          </p:nvPr>
        </p:nvPicPr>
        <p:blipFill>
          <a:blip r:embed="rId2"/>
          <a:stretch>
            <a:fillRect/>
          </a:stretch>
        </p:blipFill>
        <p:spPr>
          <a:xfrm>
            <a:off x="685800" y="2111883"/>
            <a:ext cx="5290457" cy="3429000"/>
          </a:xfrm>
          <a:prstGeom prst="rect">
            <a:avLst/>
          </a:prstGeom>
        </p:spPr>
      </p:pic>
      <p:sp>
        <p:nvSpPr>
          <p:cNvPr id="5" name="Caption"/>
          <p:cNvSpPr txBox="1"/>
          <p:nvPr/>
        </p:nvSpPr>
        <p:spPr>
          <a:xfrm>
            <a:off x="685800" y="5655183"/>
            <a:ext cx="10820400" cy="500000"/>
          </a:xfrm>
          <a:prstGeom prst="rect">
            <a:avLst/>
          </a:prstGeom>
          <a:noFill/>
        </p:spPr>
        <p:txBody>
          <a:bodyPr lIns="0" tIns="0" rIns="0" bIns="0" anchor="t" wrap="square">
            <a:noAutofit/>
          </a:bodyPr>
          <a:lstStyle/>
          <a:p>
            <a:pPr marL="0" indent="0" algn="l">
              <a:lnSpc>
                <a:spcPct val="140000"/>
              </a:lnSpc>
              <a:buNone/>
            </a:pPr>
            <a:r>
              <a:rPr lang="en-GB" sz="1400">
                <a:solidFill>
                  <a:schemeClr val="tx2"/>
                </a:solidFill>
                <a:latin typeface="+mn-lt"/>
              </a:rPr>
              <a:t>The theme's ten pairs of data colours under deuteranomaly, the condition that binds this palette: the closest pair lands on 15.0, exactly the floor.</a:t>
            </a:r>
            <a:r>
              <a:rPr lang="en-GB" sz="1400" baseline="30000">
                <a:solidFill>
                  <a:schemeClr val="tx2"/>
                </a:solidFill>
                <a:latin typeface="+mn-lt"/>
              </a:rPr>
              <a:t>1</a:t>
            </a:r>
          </a:p>
        </p:txBody>
      </p:sp>
      <p:sp>
        <p:nvSpPr>
          <p:cNvPr id="6" name="Page number"/>
          <p:cNvSpPr>
            <a:spLocks noGrp="1"/>
          </p:cNvSpPr>
          <p:nvPr>
            <p:ph type="sldNum" sz="quarter" idx="12"/>
          </p:nvPr>
        </p:nvSpPr>
        <p:spPr/>
        <p:txBody>
          <a:bodyPr/>
          <a:lstStyle/>
          <a:p>
            <a:fld id="{4B2C0E1A-6D3F-4A97-9F1B-2E5C7A8D0B31}" type="slidenum">
              <a:rPr lang="en-GB"/>
              <a:t>2</a:t>
            </a:fld>
            <a:endParaRPr lang="en-GB"/>
          </a:p>
        </p:txBody>
      </p:sp>
    </p:spTree>
  </p:cSld>
  <p:clrMapOvr>
    <a:masterClrMapping/>
  </p:clrMapOvr>
</p:sld>
</file>

<file path=ppt/slides/slide3.xml><?xml version="1.0" encoding="utf-8"?>
<!--
  Beat 6 of the flagship, on the `Two-Col Evidence` layout.
  A label on the left, a claim on the right, and the headline itself is the demonstration: someone
  who reads only it already has the finding (`assertion-headline`).
  The two boxes are the theme's `Callout` in native shapes — a tinted panel with a coloured edge —
  and the right one takes `accent` because it is the thing to look at, which is the only job
  `accent-is-attention` gives that role. Each is a pair of rectangles rather than one bordered
  shape, because DrawingML has no single-side border and a four-sided one would be a box drawn round
  the evidence for its own sake.
  The prose under each box sits in the layout's pane placeholders, moved down to clear the callout.
  The panes are 544 px on a 48 px gutter, from the layout; nothing here invents a column.
-->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ocator"/>
          <p:cNvSpPr>
            <a:spLocks noGrp="1"/>
          </p:cNvSpPr>
          <p:nvPr>
            <p:ph type="ftr" sz="quarter" idx="10"/>
          </p:nvPr>
        </p:nvSpPr>
        <p:spPr>
          <a:xfrm>
            <a:off x="685800" y="342900"/>
            <a:ext cx="1143000" cy="266700"/>
          </a:xfrm>
        </p:spPr>
        <p:txBody>
          <a:bodyPr/>
          <a:lstStyle/>
          <a:p>
            <a:r>
              <a:rPr lang="en-GB"/>
              <a:t>The rules</a:t>
            </a:r>
          </a:p>
        </p:txBody>
      </p:sp>
      <p:sp>
        <p:nvSpPr>
          <p:cNvPr id="3" name="Assertion headline"/>
          <p:cNvSpPr>
            <a:spLocks noGrp="1"/>
          </p:cNvSpPr>
          <p:nvPr>
            <p:ph type="title"/>
          </p:nvPr>
        </p:nvSpPr>
        <p:spPr/>
        <p:txBody>
          <a:bodyPr/>
          <a:lstStyle/>
          <a:p>
            <a:r>
              <a:rPr lang="en-GB"/>
              <a:t>The headline is the claim, not a label.</a:t>
            </a:r>
          </a:p>
        </p:txBody>
      </p:sp>
      <p:sp>
        <p:nvSpPr>
          <p:cNvPr id="4" name="Callout edge, left"/>
          <p:cNvSpPr/>
          <p:nvPr/>
        </p:nvSpPr>
        <p:spPr>
          <a:xfrm>
            <a:off x="685800" y="2111883"/>
            <a:ext cx="38100" cy="1381125"/>
          </a:xfrm>
          <a:prstGeom prst="rect">
            <a:avLst/>
          </a:prstGeom>
          <a:solidFill>
            <a:schemeClr val="accent3"/>
          </a:solidFill>
          <a:ln>
            <a:noFill/>
          </a:ln>
        </p:spPr>
        <p:txBody>
          <a:bodyPr/>
          <a:lstStyle/>
          <a:p>
            <a:endParaRPr lang="en-GB"/>
          </a:p>
        </p:txBody>
      </p:sp>
      <p:sp>
        <p:nvSpPr>
          <p:cNvPr id="5" name="Callout, left"/>
          <p:cNvSpPr txBox="1"/>
          <p:nvPr/>
        </p:nvSpPr>
        <p:spPr>
          <a:xfrm>
            <a:off x="723900" y="2111883"/>
            <a:ext cx="5144700" cy="1381125"/>
          </a:xfrm>
          <a:prstGeom prst="rect">
            <a:avLst/>
          </a:prstGeom>
          <a:solidFill>
            <a:schemeClr val="bg2"/>
          </a:solidFill>
          <a:ln>
            <a:noFill/>
          </a:ln>
        </p:spPr>
        <p:txBody>
          <a:bodyPr lIns="228600" tIns="152400" rIns="228600" bIns="152400" anchor="t" wrap="square">
            <a:noAutofit/>
          </a:bodyPr>
          <a:lstStyle/>
          <a:p>
            <a:pPr marL="0" indent="0" algn="l">
              <a:spcAft>
                <a:spcPts val="450"/>
              </a:spcAft>
              <a:buNone/>
            </a:pPr>
            <a:r>
              <a:rPr lang="en-GB" sz="1800" b="1">
                <a:solidFill>
                  <a:schemeClr val="accent1"/>
                </a:solidFill>
                <a:latin typeface="+mn-lt"/>
              </a:rPr>
              <a:t>A label</a:t>
            </a:r>
          </a:p>
          <a:p>
            <a:pPr marL="0" indent="0" algn="l">
              <a:buNone/>
            </a:pPr>
            <a:r>
              <a:rPr lang="en-GB" sz="1800">
                <a:solidFill>
                  <a:schemeClr val="tx1"/>
                </a:solidFill>
                <a:latin typeface="+mn-lt"/>
              </a:rPr>
              <a:t>Results</a:t>
            </a:r>
          </a:p>
        </p:txBody>
      </p:sp>
      <p:sp>
        <p:nvSpPr>
          <p:cNvPr id="6" name="Evidence, left"/>
          <p:cNvSpPr>
            <a:spLocks noGrp="1"/>
          </p:cNvSpPr>
          <p:nvPr>
            <p:ph type="body" idx="1"/>
          </p:nvPr>
        </p:nvSpPr>
        <p:spPr>
          <a:xfrm>
            <a:off x="685800" y="3683508"/>
            <a:ext cx="5182800" cy="2564892"/>
          </a:xfrm>
        </p:spPr>
        <p:txBody>
          <a:bodyPr/>
          <a:lstStyle/>
          <a:p>
            <a:r>
              <a:rPr lang="en-GB"/>
              <a:t>Someone who reads only this knows the slide is about results, and knows nothing.</a:t>
            </a:r>
          </a:p>
        </p:txBody>
      </p:sp>
      <p:sp>
        <p:nvSpPr>
          <p:cNvPr id="7" name="Callout edge, right"/>
          <p:cNvSpPr/>
          <p:nvPr/>
        </p:nvSpPr>
        <p:spPr>
          <a:xfrm>
            <a:off x="6324600" y="2111883"/>
            <a:ext cx="38100" cy="1381125"/>
          </a:xfrm>
          <a:prstGeom prst="rect">
            <a:avLst/>
          </a:prstGeom>
          <a:solidFill>
            <a:schemeClr val="accent2"/>
          </a:solidFill>
          <a:ln>
            <a:noFill/>
          </a:ln>
        </p:spPr>
        <p:txBody>
          <a:bodyPr/>
          <a:lstStyle/>
          <a:p>
            <a:endParaRPr lang="en-GB"/>
          </a:p>
        </p:txBody>
      </p:sp>
      <p:sp>
        <p:nvSpPr>
          <p:cNvPr id="8" name="Callout, right"/>
          <p:cNvSpPr txBox="1"/>
          <p:nvPr/>
        </p:nvSpPr>
        <p:spPr>
          <a:xfrm>
            <a:off x="6362700" y="2111883"/>
            <a:ext cx="5144700" cy="1381125"/>
          </a:xfrm>
          <a:prstGeom prst="rect">
            <a:avLst/>
          </a:prstGeom>
          <a:solidFill>
            <a:schemeClr val="bg2"/>
          </a:solidFill>
          <a:ln>
            <a:noFill/>
          </a:ln>
        </p:spPr>
        <p:txBody>
          <a:bodyPr lIns="228600" tIns="152400" rIns="228600" bIns="152400" anchor="t" wrap="square">
            <a:noAutofit/>
          </a:bodyPr>
          <a:lstStyle/>
          <a:p>
            <a:pPr marL="0" indent="0" algn="l">
              <a:spcAft>
                <a:spcPts val="450"/>
              </a:spcAft>
              <a:buNone/>
            </a:pPr>
            <a:r>
              <a:rPr lang="en-GB" sz="1800" b="1">
                <a:solidFill>
                  <a:schemeClr val="accent1"/>
                </a:solidFill>
                <a:latin typeface="+mn-lt"/>
              </a:rPr>
              <a:t>A claim</a:t>
            </a:r>
          </a:p>
          <a:p>
            <a:pPr marL="0" indent="0" algn="l">
              <a:buNone/>
            </a:pPr>
            <a:r>
              <a:rPr lang="en-GB" sz="1800">
                <a:solidFill>
                  <a:schemeClr val="tx1"/>
                </a:solidFill>
                <a:latin typeface="+mn-lt"/>
              </a:rPr>
              <a:t>Three series pass, and a fourth would fail without retuning.</a:t>
            </a:r>
          </a:p>
        </p:txBody>
      </p:sp>
      <p:sp>
        <p:nvSpPr>
          <p:cNvPr id="9" name="Evidence, right"/>
          <p:cNvSpPr>
            <a:spLocks noGrp="1"/>
          </p:cNvSpPr>
          <p:nvPr>
            <p:ph type="body" idx="2"/>
          </p:nvPr>
        </p:nvSpPr>
        <p:spPr>
          <a:xfrm>
            <a:off x="6324600" y="3683508"/>
            <a:ext cx="5182800" cy="2564892"/>
          </a:xfrm>
        </p:spPr>
        <p:txBody>
          <a:bodyPr/>
          <a:lstStyle/>
          <a:p>
            <a:r>
              <a:rPr lang="en-GB"/>
              <a:t>Someone who reads only this already has the finding, and the slide has only to prove it</a:t>
            </a:r>
            <a:r>
              <a:rPr lang="en-GB" baseline="30000"/>
              <a:t>2</a:t>
            </a:r>
            <a:r>
              <a:rPr lang="en-GB"/>
              <a:t>. Eight to fourteen words is the band, and two rendered lines is the ceiling this headline is sitting inside.</a:t>
            </a:r>
          </a:p>
        </p:txBody>
      </p:sp>
      <p:sp>
        <p:nvSpPr>
          <p:cNvPr id="10" name="Page number"/>
          <p:cNvSpPr>
            <a:spLocks noGrp="1"/>
          </p:cNvSpPr>
          <p:nvPr>
            <p:ph type="sldNum" sz="quarter" idx="12"/>
          </p:nvPr>
        </p:nvSpPr>
        <p:spPr/>
        <p:txBody>
          <a:bodyPr/>
          <a:lstStyle/>
          <a:p>
            <a:fld id="{4B2C0E1A-6D3F-4A97-9F1B-2E5C7A8D0B31}" type="slidenum">
              <a:rPr lang="en-GB"/>
              <a:t>3</a:t>
            </a:fld>
            <a:endParaRPr lang="en-GB"/>
          </a:p>
        </p:txBody>
      </p:sp>
    </p:spTree>
  </p:cSld>
  <p:clrMapOvr>
    <a:masterClrMapping/>
  </p:clrMapOvr>
</p:sld>
</file>

<file path=ppt/slides/slide4.xml><?xml version="1.0" encoding="utf-8"?>
<!--
  The sources, on the `References` layout.
  Two entries, because two are what the slides before it cite: the simulation behind the figure on
  slide 2, and the retention study behind the claim on slide 3. Numbered in the order they are cited
  so the superscript beside each claim lands on one of them, and carrying no URI — a sources slide is
  for attribution, and retrieval is what a search box is for.
  It closes the deck, and it is not a "thank you" slide: `no-section-dividers` forbids spending a
  slide on navigation, and this one proves where the claims came from.
-->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ocator"/>
          <p:cNvSpPr>
            <a:spLocks noGrp="1"/>
          </p:cNvSpPr>
          <p:nvPr>
            <p:ph type="ftr" sz="quarter" idx="10"/>
          </p:nvPr>
        </p:nvSpPr>
        <p:spPr>
          <a:xfrm>
            <a:off x="685800" y="342900"/>
            <a:ext cx="952500" cy="266700"/>
          </a:xfrm>
        </p:spPr>
        <p:txBody>
          <a:bodyPr/>
          <a:lstStyle/>
          <a:p>
            <a:r>
              <a:rPr lang="en-GB"/>
              <a:t>Sources</a:t>
            </a:r>
          </a:p>
        </p:txBody>
      </p:sp>
      <p:sp>
        <p:nvSpPr>
          <p:cNvPr id="3" name="Assertion headline"/>
          <p:cNvSpPr>
            <a:spLocks noGrp="1"/>
          </p:cNvSpPr>
          <p:nvPr>
            <p:ph type="title"/>
          </p:nvPr>
        </p:nvSpPr>
        <p:spPr/>
        <p:txBody>
          <a:bodyPr/>
          <a:lstStyle/>
          <a:p>
            <a:r>
              <a:rPr lang="en-GB"/>
              <a:t>Every claim these slides make came from somewhere, and here is where.</a:t>
            </a:r>
          </a:p>
        </p:txBody>
      </p:sp>
      <p:sp>
        <p:nvSpPr>
          <p:cNvPr id="4" name="Sources"/>
          <p:cNvSpPr>
            <a:spLocks noGrp="1"/>
          </p:cNvSpPr>
          <p:nvPr>
            <p:ph type="body" idx="1"/>
          </p:nvPr>
        </p:nvSpPr>
        <p:spPr/>
        <p:txBody>
          <a:bodyPr/>
          <a:lstStyle/>
          <a:p>
            <a:r>
              <a:rPr lang="en-GB"/>
              <a:t>Machado, Oliveira and Fernandes (2009) — Simulation of colour vision deficiency, IEEE TVCG</a:t>
            </a:r>
          </a:p>
          <a:p>
            <a:r>
              <a:rPr lang="en-GB"/>
              <a:t>Alley, Schreiber, Ramsdell and Muffo (2006) — How headline design affects retention</a:t>
            </a:r>
          </a:p>
        </p:txBody>
      </p:sp>
      <p:sp>
        <p:nvSpPr>
          <p:cNvPr id="5" name="Page number"/>
          <p:cNvSpPr>
            <a:spLocks noGrp="1"/>
          </p:cNvSpPr>
          <p:nvPr>
            <p:ph type="sldNum" sz="quarter" idx="12"/>
          </p:nvPr>
        </p:nvSpPr>
        <p:spPr/>
        <p:txBody>
          <a:bodyPr/>
          <a:lstStyle/>
          <a:p>
            <a:fld id="{4B2C0E1A-6D3F-4A97-9F1B-2E5C7A8D0B31}" type="slidenum">
              <a:rPr lang="en-GB"/>
              <a:t>4</a:t>
            </a:fld>
            <a:endParaRPr lang="en-GB"/>
          </a:p>
        </p:txBody>
      </p:sp>
    </p:spTree>
  </p:cSld>
  <p:clrMapOvr>
    <a:masterClrMapping/>
  </p:clrMapOvr>
</p:sld>
</file>

<file path=ppt/theme/theme1.xml><?xml version="1.0" encoding="utf-8"?>
<!--
  The palette and the two families, as PowerPoint's own theme.
  This is the one part of the package that writes a palette hex down. Everything else references a
  slot — `accent1`, `tx2`, `bg1` — so recolouring the proof is this file and nothing else, the same
  bargain `theme/styles/tokens.css` strikes for the Slidev delivery. The twelve slots and what each
  carries are the mapping in `docs/pptx-static-proof.md` §4, hand-set once; nothing derives them
  from `themes/kuleuven.json`, and `python/tests/test_pptx.py` is what holds the copy to the
  original.
  The data-encoding series is deliberately absent. It overflows the six accents, and it does not
  need them: figures are regenerated and imported as validated pictures, so `series-1 … series-3`
  live inside those images rather than in any native shape here.
-->
<a:theme xmlns:a="http://schemas.openxmlformats.org/drawingml/2006/main" name="legible — kuleuven">
  <a:themeElements>
    <a:clrScheme name="legible — kuleuven">
      <!-- Text 1 / Background 1: `ink` on `surface`. `light-ground` is locked, so this pairing is
           not a scheme a viewer chooses between. -->
      <a:dk1>
        <a:srgbClr val="102A43"/>
      </a:dk1>
      <a:lt1>
        <a:srgbClr val="FFFFFF"/>
      </a:lt1>
      <!-- Text 2 / Background 2: `neutral` on `surface-alt`. -->
      <a:dk2>
        <a:srgbClr val="486581"/>
      </a:dk2>
      <a:lt2>
        <a:srgbClr val="F4F7FB"/>
      </a:lt2>
      <a:accent1>
        <a:srgbClr val="00407A"/>
      </a:accent1>
      <!-- `accent`, which `accent-is-attention` governs here exactly as it does in the deck: an
           arrow, a highlight, "ours" — never a data series. -->
      <a:accent2>
        <a:srgbClr val="DD8A2E"/>
      </a:accent2>
      <a:accent3>
        <a:srgbClr val="1D8DB0"/>
      </a:accent3>
      <a:accent4>
        <a:srgbClr val="93A4B8"/>
      </a:accent4>
      <!-- `reference` and `muted`, present only so a presenter has swatches matching the figures —
           a legend chip, a callout on a chart. The data itself always arrives as a picture. -->
      <a:accent5>
        <a:srgbClr val="111111"/>
      </a:accent5>
      <a:accent6>
        <a:srgbClr val="778496"/>
      </a:accent6>
      <a:hlink>
        <a:srgbClr val="1D8DB0"/>
      </a:hlink>
      <a:folHlink>
        <a:srgbClr val="778496"/>
      </a:folHlink>
    </a:clrScheme>
    <!--
      `fonts`: one text family, one mono family. Both are embedded in the package (see
      ppt/presentation.xml), and the three attributes beside a name are the fallback OOXML actually
      understands — a renderer that has neither the face nor the embedding substitutes on them
      rather than on whatever is first in its own list.
        panose        the face's own metric fingerprint, read out of the shipped TTF
        pitchFamily   34 = variable pitch, Swiss → a generic sans stands in for Inter
                      49 = fixed pitch, Modern   → a mono stands in for JetBrains Mono
        charset       0 = ANSI
      A font scheme has two slots and they are the heading face and the body face, so both are Inter
      here: `fonts` gives the mono family one job, and it is the locator. JetBrains Mono is declared
      where it is actually set — on the locator placeholder in slideMaster1.xml, and on its own
      embedding entry — with the same three attributes. Putting it in `minorFont` would set every
      word of every slide in it.
    -->
    <a:fontScheme name="legible">
      <a:majorFont>
        <a:latin typeface="Inter" panose="02000503000000020004" pitchFamily="34" charset="0"/>
        <a:ea typeface=""/>
        <a:cs typeface=""/>
      </a:majorFont>
      <a:minorFont>
        <a:latin typeface="Inter" panose="02000503000000020004" pitchFamily="34" charset="0"/>
        <a:ea typeface=""/>
        <a:cs typeface=""/>
      </a:minorFont>
    </a:fontScheme>
    <!--
      Flat, on purpose. The style lists below are what PowerPoint reaches for when a shape is given
      a "style" rather than an explicit fill: gradients, bevels, shadows and a soft glow are the
      chrome `figure-noise` and `coherence` spend no ink on, so every level of every list here is
      the plainest thing the schema permits. A shape built from this theme cannot arrive decorated.
    -->
    <a:fmtScheme name="legible">
      <a:fillStyleLst>
        <a:solidFill>
          <a:schemeClr val="phClr"/>
        </a:solidFill>
        <a:solidFill>
          <a:schemeClr val="phClr"/>
        </a:solidFill>
        <a:solidFill>
          <a:schemeClr val="phClr"/>
        </a:solidFill>
      </a:fillStyleLst>
      <a:lnStyleLst>
        <a:ln w="9525"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PresentationFormat>Widescreen</PresentationFormat>
  <Slides>4</Slides>
  <Application>legible-slides</Application>
</Properties>
</file>

<file path=docProps/core.xml><?xml version="1.0" encoding="utf-8"?>
<!--
  The file's own metadata, and where the non-endorsement note travels.
  `dc:description` is the sentence `themes/kuleuven.json` already carries in its own `meta`, quoted
  rather than reworded: a .pptx leaves this repo on its own, and the note has to leave with it. The
  test suite holds the two to each other, so the theme file stays the place the sentence is written.
  No `dcterms:created` and no `dcterms:modified`. A timestamp would make the packed file differ from
  itself on every run, and the check that the shipped .pptx is current turns on packing it twice and
  getting the same bytes.
-->
<cp:coreProperties xmlns:cp="http://schemas.openxmlformats.org/package/2006/metadata/core-properties" xmlns:dc="http://purl.org/dc/elements/1.1/" xmlns:dcterms="http://purl.org/dc/terms/" xmlns:dcmitype="http://purl.org/dc/dcmitype/" xmlns:xsi="http://www.w3.org/2001/XMLSchema-instance">
  <dc:creator>Yongbo Yu</dc:creator>
  <dc:description>KU Leuven house-style-derived theme. Not an official KU Leuven product and carries no endorsement.</dc:description>
  <cp:lastModifiedBy>Yongbo Yu</cp:lastModifiedBy>
  <cp:revision>1</cp:revision>
  <dc:subject>The legible-slides method, in a native PowerPoint master</dc:subject>
  <dc:title>legible-slides — PowerPoint static proof</dc:title>
</cp:coreProperties>
</file>